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975" autoAdjust="0"/>
  </p:normalViewPr>
  <p:slideViewPr>
    <p:cSldViewPr>
      <p:cViewPr>
        <p:scale>
          <a:sx n="79" d="100"/>
          <a:sy n="79" d="100"/>
        </p:scale>
        <p:origin x="-1116" y="-3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E8DAB2-BC44-4675-8458-68A3AA56F412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E8D756-7410-4C4F-8A46-7B21E9AA62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83419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E8D756-7410-4C4F-8A46-7B21E9AA62E4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488264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371600"/>
            <a:ext cx="7848600" cy="1927225"/>
          </a:xfrm>
        </p:spPr>
        <p:txBody>
          <a:bodyPr anchor="b">
            <a:noAutofit/>
          </a:bodyPr>
          <a:lstStyle>
            <a:lvl1pPr>
              <a:defRPr sz="5400" cap="all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3505200"/>
            <a:ext cx="6400800" cy="17526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3F0654-A7AB-4E25-A94C-8F2ED5C3DD73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C7237-DE08-44DB-96CB-3808444FB316}" type="slidenum">
              <a:rPr lang="en-IN" smtClean="0"/>
              <a:t>‹#›</a:t>
            </a:fld>
            <a:endParaRPr lang="en-IN"/>
          </a:p>
        </p:txBody>
      </p:sp>
      <p:cxnSp>
        <p:nvCxnSpPr>
          <p:cNvPr id="8" name="Straight Connector 7"/>
          <p:cNvCxnSpPr/>
          <p:nvPr/>
        </p:nvCxnSpPr>
        <p:spPr>
          <a:xfrm>
            <a:off x="685800" y="3398520"/>
            <a:ext cx="784860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3F0654-A7AB-4E25-A94C-8F2ED5C3DD73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C7237-DE08-44DB-96CB-3808444FB316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2362200"/>
            <a:ext cx="7772400" cy="2200275"/>
          </a:xfrm>
        </p:spPr>
        <p:txBody>
          <a:bodyPr anchor="b">
            <a:normAutofit/>
          </a:bodyPr>
          <a:lstStyle>
            <a:lvl1pPr algn="l">
              <a:defRPr sz="48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4626864"/>
            <a:ext cx="77724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3F0654-A7AB-4E25-A94C-8F2ED5C3DD73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C7237-DE08-44DB-96CB-3808444FB316}" type="slidenum">
              <a:rPr lang="en-IN" smtClean="0"/>
              <a:t>‹#›</a:t>
            </a:fld>
            <a:endParaRPr lang="en-IN"/>
          </a:p>
        </p:txBody>
      </p:sp>
      <p:cxnSp>
        <p:nvCxnSpPr>
          <p:cNvPr id="7" name="Straight Connector 6"/>
          <p:cNvCxnSpPr/>
          <p:nvPr/>
        </p:nvCxnSpPr>
        <p:spPr>
          <a:xfrm>
            <a:off x="731520" y="4599432"/>
            <a:ext cx="784860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73352"/>
            <a:ext cx="40386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73352"/>
            <a:ext cx="40386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3F0654-A7AB-4E25-A94C-8F2ED5C3DD73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C7237-DE08-44DB-96CB-3808444FB316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76400"/>
            <a:ext cx="393192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438400"/>
            <a:ext cx="393192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4880" y="1676400"/>
            <a:ext cx="393192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lang="en-US" sz="2000" b="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4880" y="2438400"/>
            <a:ext cx="393192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3F0654-A7AB-4E25-A94C-8F2ED5C3DD73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C7237-DE08-44DB-96CB-3808444FB316}" type="slidenum">
              <a:rPr lang="en-IN" smtClean="0"/>
              <a:t>‹#›</a:t>
            </a:fld>
            <a:endParaRPr lang="en-IN"/>
          </a:p>
        </p:txBody>
      </p:sp>
      <p:cxnSp>
        <p:nvCxnSpPr>
          <p:cNvPr id="11" name="Straight Connector 10"/>
          <p:cNvCxnSpPr/>
          <p:nvPr/>
        </p:nvCxnSpPr>
        <p:spPr>
          <a:xfrm rot="5400000">
            <a:off x="2217817" y="4045823"/>
            <a:ext cx="4709160" cy="794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3F0654-A7AB-4E25-A94C-8F2ED5C3DD73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C7237-DE08-44DB-96CB-3808444FB316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3F0654-A7AB-4E25-A94C-8F2ED5C3DD73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C7237-DE08-44DB-96CB-3808444FB316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92080"/>
            <a:ext cx="2139696" cy="1261872"/>
          </a:xfrm>
        </p:spPr>
        <p:txBody>
          <a:bodyPr anchor="b">
            <a:no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71800" y="792080"/>
            <a:ext cx="5715000" cy="55778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2130552"/>
            <a:ext cx="2139696" cy="424361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3F0654-A7AB-4E25-A94C-8F2ED5C3DD73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C7237-DE08-44DB-96CB-3808444FB316}" type="slidenum">
              <a:rPr lang="en-IN" smtClean="0"/>
              <a:t>‹#›</a:t>
            </a:fld>
            <a:endParaRPr lang="en-IN"/>
          </a:p>
        </p:txBody>
      </p:sp>
      <p:cxnSp>
        <p:nvCxnSpPr>
          <p:cNvPr id="9" name="Straight Connector 8"/>
          <p:cNvCxnSpPr/>
          <p:nvPr/>
        </p:nvCxnSpPr>
        <p:spPr>
          <a:xfrm rot="5400000">
            <a:off x="-13116" y="3580206"/>
            <a:ext cx="557784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92480"/>
            <a:ext cx="2142680" cy="126492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858610" y="838201"/>
            <a:ext cx="5904390" cy="5500456"/>
          </a:xfrm>
          <a:solidFill>
            <a:schemeClr val="bg2"/>
          </a:solidFill>
          <a:ln w="76200">
            <a:solidFill>
              <a:srgbClr val="FFFFFF"/>
            </a:solidFill>
            <a:miter lim="800000"/>
          </a:ln>
          <a:effectLst>
            <a:outerShdw blurRad="50800" dist="12700" dir="5400000" algn="t" rotWithShape="0">
              <a:prstClr val="black">
                <a:alpha val="59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133600"/>
            <a:ext cx="2139696" cy="424281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3F0654-A7AB-4E25-A94C-8F2ED5C3DD73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C7237-DE08-44DB-96CB-3808444FB316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3F0654-A7AB-4E25-A94C-8F2ED5C3DD73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C7237-DE08-44DB-96CB-3808444FB316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609600"/>
            <a:ext cx="2057400" cy="5867400"/>
          </a:xfrm>
        </p:spPr>
        <p:txBody>
          <a:bodyPr vert="eaVert" anchor="b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609600"/>
            <a:ext cx="6019800" cy="586740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3F0654-A7AB-4E25-A94C-8F2ED5C3DD73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C7237-DE08-44DB-96CB-3808444FB316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220786"/>
            <a:ext cx="914400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87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18288"/>
            <a:ext cx="28956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fld id="{3A3F0654-A7AB-4E25-A94C-8F2ED5C3DD73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29000" y="18288"/>
            <a:ext cx="41148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FFFFF"/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20000" y="18288"/>
            <a:ext cx="10668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rgbClr val="FFFFFF"/>
                </a:solidFill>
              </a:defRPr>
            </a:lvl1pPr>
          </a:lstStyle>
          <a:p>
            <a:fld id="{ACDC7237-DE08-44DB-96CB-3808444FB316}" type="slidenum">
              <a:rPr lang="en-IN" smtClean="0"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spcBef>
          <a:spcPct val="0"/>
        </a:spcBef>
        <a:buNone/>
        <a:defRPr sz="4000" kern="1200" spc="-1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spcBef>
          <a:spcPct val="20000"/>
        </a:spcBef>
        <a:buClr>
          <a:schemeClr val="accent1"/>
        </a:buClr>
        <a:buSzPct val="9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188720" indent="-137160" algn="l" defTabSz="914400" rtl="0" eaLnBrk="1" latinLnBrk="0" hangingPunct="1">
        <a:spcBef>
          <a:spcPct val="20000"/>
        </a:spcBef>
        <a:buClr>
          <a:schemeClr val="accent1"/>
        </a:buClr>
        <a:buSzPct val="100000"/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155448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19202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://github.com/AkshayaAshok28/PYTHON-Project-1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b="1" dirty="0"/>
              <a:t>Zomato Restaurant Data Analysis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latin typeface="Arial Black" panose="020B0A04020102020204" pitchFamily="34" charset="0"/>
              </a:rPr>
              <a:t>Analyzing Restaurant Characteristics and Customer Engagement</a:t>
            </a:r>
            <a:endParaRPr lang="en-IN" dirty="0"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99861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OBJECTIVE</a:t>
            </a:r>
            <a:endParaRPr lang="en-IN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To analyze the key factors influencing restaurant popularity and operational choices on the Zomato </a:t>
            </a:r>
            <a:r>
              <a:rPr lang="en-US" sz="2800" dirty="0" smtClean="0"/>
              <a:t>platform</a:t>
            </a:r>
          </a:p>
          <a:p>
            <a:r>
              <a:rPr lang="it-IT" sz="2800" b="1" dirty="0"/>
              <a:t>Data Source:</a:t>
            </a:r>
            <a:r>
              <a:rPr lang="it-IT" sz="2800" dirty="0"/>
              <a:t> </a:t>
            </a:r>
            <a:r>
              <a:rPr lang="it-IT" sz="2800" dirty="0" smtClean="0"/>
              <a:t>Zomato </a:t>
            </a:r>
            <a:r>
              <a:rPr lang="it-IT" sz="2800" dirty="0"/>
              <a:t>data .</a:t>
            </a:r>
            <a:r>
              <a:rPr lang="it-IT" sz="2800" dirty="0" smtClean="0"/>
              <a:t>csv</a:t>
            </a:r>
          </a:p>
          <a:p>
            <a:pPr marL="0" indent="0">
              <a:buNone/>
            </a:pPr>
            <a:r>
              <a:rPr lang="it-IT" sz="2800" dirty="0" smtClean="0"/>
              <a:t>Zomato data consists of </a:t>
            </a:r>
            <a:r>
              <a:rPr lang="en-US" sz="2800" dirty="0" smtClean="0"/>
              <a:t>148 rows and 7 columns.</a:t>
            </a:r>
          </a:p>
          <a:p>
            <a:r>
              <a:rPr lang="en-US" sz="2800" dirty="0" smtClean="0"/>
              <a:t> </a:t>
            </a:r>
            <a:r>
              <a:rPr lang="en-US" sz="2800" b="1" dirty="0"/>
              <a:t>Key Variables:</a:t>
            </a:r>
            <a:r>
              <a:rPr lang="en-US" sz="2800" dirty="0"/>
              <a:t> Briefly list the columns you focused on: Rate, Votes, Online_order, Book_table, and Listed_in(type).</a:t>
            </a:r>
            <a:endParaRPr lang="it-IT" sz="2800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593893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CORE FINDINGS</a:t>
            </a:r>
            <a:endParaRPr lang="en-IN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rial Black" panose="020B0A04020102020204" pitchFamily="34" charset="0"/>
              </a:rPr>
              <a:t>Finding 1: </a:t>
            </a:r>
            <a:r>
              <a:rPr lang="en-US" b="1" dirty="0"/>
              <a:t>Distribution of Restaurant </a:t>
            </a:r>
            <a:r>
              <a:rPr lang="en-US" b="1" dirty="0" smtClean="0"/>
              <a:t>Types.</a:t>
            </a:r>
          </a:p>
          <a:p>
            <a:r>
              <a:rPr lang="en-US" b="1" dirty="0"/>
              <a:t>Visualization:</a:t>
            </a:r>
            <a:r>
              <a:rPr lang="en-US" dirty="0"/>
              <a:t> </a:t>
            </a:r>
            <a:r>
              <a:rPr lang="en-US" dirty="0" smtClean="0"/>
              <a:t>Used </a:t>
            </a:r>
            <a:r>
              <a:rPr lang="en-US" dirty="0"/>
              <a:t>the </a:t>
            </a:r>
            <a:r>
              <a:rPr lang="en-US" b="1" dirty="0"/>
              <a:t>Count Plot for '</a:t>
            </a:r>
            <a:r>
              <a:rPr lang="en-US" b="1" dirty="0" err="1"/>
              <a:t>listed_in</a:t>
            </a:r>
            <a:r>
              <a:rPr lang="en-US" b="1" dirty="0"/>
              <a:t>(type)'</a:t>
            </a:r>
            <a:r>
              <a:rPr lang="en-US" dirty="0"/>
              <a:t> (Analysis 1). </a:t>
            </a:r>
            <a:endParaRPr lang="en-US" dirty="0" smtClean="0"/>
          </a:p>
          <a:p>
            <a:r>
              <a:rPr lang="en-US" b="1" dirty="0" smtClean="0"/>
              <a:t>Insight</a:t>
            </a:r>
            <a:r>
              <a:rPr lang="en-US" b="1" dirty="0"/>
              <a:t>:</a:t>
            </a:r>
            <a:r>
              <a:rPr lang="en-US" dirty="0"/>
              <a:t> State which type of restaurant is </a:t>
            </a:r>
            <a:r>
              <a:rPr lang="en-US" b="1" dirty="0"/>
              <a:t>most prevalent</a:t>
            </a:r>
            <a:r>
              <a:rPr lang="en-US" dirty="0"/>
              <a:t> (e.g., Dining/Cafes</a:t>
            </a:r>
            <a:r>
              <a:rPr lang="en-US" dirty="0" smtClean="0"/>
              <a:t>), found that</a:t>
            </a:r>
            <a:r>
              <a:rPr lang="en-US" i="1" dirty="0" smtClean="0"/>
              <a:t> </a:t>
            </a:r>
            <a:r>
              <a:rPr lang="en-US" i="1" dirty="0"/>
              <a:t>"</a:t>
            </a:r>
            <a:r>
              <a:rPr lang="en-US" dirty="0"/>
              <a:t>The Zomato platform is heavily dominated by Dining establishments, followed by Cafes.“</a:t>
            </a:r>
          </a:p>
          <a:p>
            <a:endParaRPr lang="en-IN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61" t="29762" r="41658" b="17659"/>
          <a:stretch/>
        </p:blipFill>
        <p:spPr bwMode="auto">
          <a:xfrm>
            <a:off x="2287069" y="4149080"/>
            <a:ext cx="4608512" cy="25202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04547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3"/>
          <p:cNvSpPr>
            <a:spLocks noGrp="1"/>
          </p:cNvSpPr>
          <p:nvPr>
            <p:ph idx="1"/>
          </p:nvPr>
        </p:nvSpPr>
        <p:spPr>
          <a:xfrm>
            <a:off x="457200" y="549275"/>
            <a:ext cx="8229600" cy="5927725"/>
          </a:xfrm>
        </p:spPr>
        <p:txBody>
          <a:bodyPr/>
          <a:lstStyle/>
          <a:p>
            <a:r>
              <a:rPr lang="en-US" b="1" dirty="0">
                <a:latin typeface="Arial Black" panose="020B0A04020102020204" pitchFamily="34" charset="0"/>
              </a:rPr>
              <a:t>Finding 2: </a:t>
            </a:r>
            <a:r>
              <a:rPr lang="en-US" b="1" dirty="0"/>
              <a:t>Popularity and Service </a:t>
            </a:r>
            <a:r>
              <a:rPr lang="en-US" b="1" dirty="0" smtClean="0"/>
              <a:t>Channels.</a:t>
            </a:r>
          </a:p>
          <a:p>
            <a:r>
              <a:rPr lang="en-US" b="1" dirty="0">
                <a:latin typeface="Arial Black" panose="020B0A04020102020204" pitchFamily="34" charset="0"/>
              </a:rPr>
              <a:t>Visualization: </a:t>
            </a:r>
            <a:r>
              <a:rPr lang="en-US" dirty="0" smtClean="0"/>
              <a:t>Used </a:t>
            </a:r>
            <a:r>
              <a:rPr lang="en-US" dirty="0"/>
              <a:t>the </a:t>
            </a:r>
            <a:r>
              <a:rPr lang="en-US" b="1" dirty="0"/>
              <a:t>Bar Plot for 'Total Votes per Restaurant Type'</a:t>
            </a:r>
            <a:r>
              <a:rPr lang="en-US" dirty="0"/>
              <a:t> (Analysis 2). </a:t>
            </a:r>
            <a:endParaRPr lang="en-US" dirty="0" smtClean="0"/>
          </a:p>
          <a:p>
            <a:r>
              <a:rPr lang="en-US" b="1" dirty="0">
                <a:latin typeface="Arial Black" panose="020B0A04020102020204" pitchFamily="34" charset="0"/>
              </a:rPr>
              <a:t>Insight: </a:t>
            </a:r>
            <a:r>
              <a:rPr lang="en-US" dirty="0"/>
              <a:t>State which restaurant type receives the </a:t>
            </a:r>
            <a:r>
              <a:rPr lang="en-US" b="1" dirty="0"/>
              <a:t>most total votes</a:t>
            </a:r>
            <a:r>
              <a:rPr lang="en-US" dirty="0"/>
              <a:t> (highest public engagement</a:t>
            </a:r>
            <a:r>
              <a:rPr lang="en-US" dirty="0" smtClean="0"/>
              <a:t>). Found that </a:t>
            </a:r>
            <a:r>
              <a:rPr lang="en-US" dirty="0"/>
              <a:t>"[Highest Voted Type, e.g., Dining] receives the overwhelming majority of customer votes, indicating where public opinion and high traffic are concentrated."</a:t>
            </a:r>
          </a:p>
          <a:p>
            <a:endParaRPr lang="en-IN" b="1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40" t="31534" r="40523" b="18466"/>
          <a:stretch/>
        </p:blipFill>
        <p:spPr bwMode="auto">
          <a:xfrm>
            <a:off x="2267744" y="4149080"/>
            <a:ext cx="4968552" cy="27089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27615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idx="1"/>
          </p:nvPr>
        </p:nvSpPr>
        <p:spPr>
          <a:xfrm>
            <a:off x="457200" y="620713"/>
            <a:ext cx="8229600" cy="5856287"/>
          </a:xfrm>
        </p:spPr>
        <p:txBody>
          <a:bodyPr/>
          <a:lstStyle/>
          <a:p>
            <a:r>
              <a:rPr lang="en-US" b="1" dirty="0">
                <a:latin typeface="Arial Black" panose="020B0A04020102020204" pitchFamily="34" charset="0"/>
              </a:rPr>
              <a:t>Finding 3: </a:t>
            </a:r>
            <a:r>
              <a:rPr lang="en-US" b="1" dirty="0"/>
              <a:t>Adoption of Online </a:t>
            </a:r>
            <a:r>
              <a:rPr lang="en-US" b="1" dirty="0" smtClean="0"/>
              <a:t>Services</a:t>
            </a:r>
          </a:p>
          <a:p>
            <a:r>
              <a:rPr lang="en-US" b="1" dirty="0">
                <a:latin typeface="Arial Black" panose="020B0A04020102020204" pitchFamily="34" charset="0"/>
              </a:rPr>
              <a:t>Visualization: </a:t>
            </a:r>
            <a:r>
              <a:rPr lang="en-US" dirty="0" smtClean="0"/>
              <a:t>Used </a:t>
            </a:r>
            <a:r>
              <a:rPr lang="en-US" b="1" dirty="0" smtClean="0"/>
              <a:t>Pivot </a:t>
            </a:r>
            <a:r>
              <a:rPr lang="en-US" b="1" dirty="0"/>
              <a:t>Table Plot for '</a:t>
            </a:r>
            <a:r>
              <a:rPr lang="en-US" b="1" dirty="0" err="1"/>
              <a:t>book_table</a:t>
            </a:r>
            <a:r>
              <a:rPr lang="en-US" b="1" dirty="0"/>
              <a:t> vs. online_order'</a:t>
            </a:r>
            <a:r>
              <a:rPr lang="en-US" dirty="0"/>
              <a:t> (Analysis 4</a:t>
            </a:r>
            <a:r>
              <a:rPr lang="en-US" dirty="0" smtClean="0"/>
              <a:t>).</a:t>
            </a:r>
          </a:p>
          <a:p>
            <a:r>
              <a:rPr lang="en-US" dirty="0" smtClean="0"/>
              <a:t> </a:t>
            </a:r>
            <a:r>
              <a:rPr lang="en-US" b="1" dirty="0">
                <a:latin typeface="Arial Black" panose="020B0A04020102020204" pitchFamily="34" charset="0"/>
              </a:rPr>
              <a:t>Insight: </a:t>
            </a:r>
            <a:r>
              <a:rPr lang="en-US" dirty="0" smtClean="0"/>
              <a:t>Discussed </a:t>
            </a:r>
            <a:r>
              <a:rPr lang="en-US" dirty="0"/>
              <a:t>the proportion of restaurants that offer </a:t>
            </a:r>
            <a:r>
              <a:rPr lang="en-US" b="1" dirty="0"/>
              <a:t>online ordering</a:t>
            </a:r>
            <a:r>
              <a:rPr lang="en-US" dirty="0"/>
              <a:t>. </a:t>
            </a:r>
            <a:r>
              <a:rPr lang="en-US" dirty="0" smtClean="0"/>
              <a:t>Highlighted </a:t>
            </a:r>
            <a:r>
              <a:rPr lang="en-US" dirty="0"/>
              <a:t>the </a:t>
            </a:r>
            <a:r>
              <a:rPr lang="en-US" b="1" dirty="0"/>
              <a:t>relationship between online order and table </a:t>
            </a:r>
            <a:r>
              <a:rPr lang="en-US" b="1" dirty="0" smtClean="0"/>
              <a:t>booking.</a:t>
            </a:r>
          </a:p>
          <a:p>
            <a:endParaRPr lang="en-IN" b="1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62" t="45635" r="74009" b="30114"/>
          <a:stretch/>
        </p:blipFill>
        <p:spPr bwMode="auto">
          <a:xfrm>
            <a:off x="2483768" y="3356992"/>
            <a:ext cx="4248472" cy="28803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6287712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548680"/>
            <a:ext cx="8229600" cy="5928320"/>
          </a:xfrm>
        </p:spPr>
        <p:txBody>
          <a:bodyPr/>
          <a:lstStyle/>
          <a:p>
            <a:r>
              <a:rPr lang="en-US" b="1" dirty="0">
                <a:latin typeface="Arial Black" panose="020B0A04020102020204" pitchFamily="34" charset="0"/>
              </a:rPr>
              <a:t>Finding 4: </a:t>
            </a:r>
            <a:r>
              <a:rPr lang="en-US" b="1" dirty="0"/>
              <a:t>The Impact of Service Channel on </a:t>
            </a:r>
            <a:r>
              <a:rPr lang="en-US" b="1" dirty="0" smtClean="0"/>
              <a:t>Rating</a:t>
            </a:r>
          </a:p>
          <a:p>
            <a:r>
              <a:rPr lang="en-US" b="1" dirty="0">
                <a:latin typeface="Arial Black" panose="020B0A04020102020204" pitchFamily="34" charset="0"/>
              </a:rPr>
              <a:t>Visualization: </a:t>
            </a:r>
            <a:r>
              <a:rPr lang="en-US" dirty="0"/>
              <a:t>Use the </a:t>
            </a:r>
            <a:r>
              <a:rPr lang="en-US" b="1" dirty="0"/>
              <a:t>Box Plot for 'Ratings for online vs offline orders'</a:t>
            </a:r>
            <a:r>
              <a:rPr lang="en-US" dirty="0"/>
              <a:t> (Analysis 5). </a:t>
            </a:r>
            <a:endParaRPr lang="en-US" dirty="0" smtClean="0"/>
          </a:p>
          <a:p>
            <a:r>
              <a:rPr lang="en-US" b="1" dirty="0">
                <a:latin typeface="Arial Black" panose="020B0A04020102020204" pitchFamily="34" charset="0"/>
              </a:rPr>
              <a:t>Insight: </a:t>
            </a:r>
            <a:r>
              <a:rPr lang="en-US" dirty="0" smtClean="0"/>
              <a:t>By Comparing </a:t>
            </a:r>
            <a:r>
              <a:rPr lang="en-US" dirty="0"/>
              <a:t>the </a:t>
            </a:r>
            <a:r>
              <a:rPr lang="en-US" b="1" dirty="0"/>
              <a:t>average rating (mean/median)</a:t>
            </a:r>
            <a:r>
              <a:rPr lang="en-US" dirty="0"/>
              <a:t> between restaurants that accept online orders and those that don't. Example: "Restaurants offering online orders have a slightly higher (or lower) average rating than those of offline </a:t>
            </a:r>
            <a:r>
              <a:rPr lang="en-US" dirty="0" smtClean="0"/>
              <a:t>orders.</a:t>
            </a:r>
            <a:endParaRPr lang="en-IN" dirty="0"/>
          </a:p>
        </p:txBody>
      </p:sp>
      <p:pic>
        <p:nvPicPr>
          <p:cNvPr id="4100" name="Picture 4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322" b="26689"/>
          <a:stretch/>
        </p:blipFill>
        <p:spPr bwMode="auto">
          <a:xfrm>
            <a:off x="2411760" y="3717032"/>
            <a:ext cx="4665123" cy="31409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802759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512" y="548680"/>
            <a:ext cx="8820472" cy="990600"/>
          </a:xfrm>
        </p:spPr>
        <p:txBody>
          <a:bodyPr>
            <a:noAutofit/>
          </a:bodyPr>
          <a:lstStyle/>
          <a:p>
            <a:pPr algn="ctr"/>
            <a:r>
              <a:rPr lang="en-IN" sz="3400" b="1" dirty="0" smtClean="0"/>
              <a:t>CONCLUSION AND RECOMMENDATIONS </a:t>
            </a:r>
            <a:endParaRPr lang="en-IN" sz="34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smtClean="0">
                <a:latin typeface="Arial Black" panose="020B0A04020102020204" pitchFamily="34" charset="0"/>
              </a:rPr>
              <a:t>Conclusion:</a:t>
            </a:r>
          </a:p>
          <a:p>
            <a:pPr marL="0" indent="0">
              <a:buNone/>
            </a:pPr>
            <a:r>
              <a:rPr lang="en-US" dirty="0" smtClean="0"/>
              <a:t>Dining </a:t>
            </a:r>
            <a:r>
              <a:rPr lang="en-US" dirty="0"/>
              <a:t>type is the core business, but service quality depends on online order </a:t>
            </a:r>
            <a:r>
              <a:rPr lang="en-US" dirty="0" smtClean="0"/>
              <a:t>availability.</a:t>
            </a:r>
          </a:p>
          <a:p>
            <a:pPr marL="0" indent="0">
              <a:buNone/>
            </a:pPr>
            <a:r>
              <a:rPr lang="en-US" b="1" dirty="0">
                <a:latin typeface="Arial Black" panose="020B0A04020102020204" pitchFamily="34" charset="0"/>
              </a:rPr>
              <a:t>Recommendation 1 (Operational): </a:t>
            </a:r>
            <a:endParaRPr lang="en-US" b="1" dirty="0" smtClean="0">
              <a:latin typeface="Arial Black" panose="020B0A04020102020204" pitchFamily="34" charset="0"/>
            </a:endParaRPr>
          </a:p>
          <a:p>
            <a:pPr marL="0" indent="0">
              <a:buNone/>
            </a:pPr>
            <a:r>
              <a:rPr lang="en-US" dirty="0" smtClean="0"/>
              <a:t>Based </a:t>
            </a:r>
            <a:r>
              <a:rPr lang="en-US" dirty="0"/>
              <a:t>on the online/offline rating, </a:t>
            </a:r>
            <a:r>
              <a:rPr lang="en-US" dirty="0" smtClean="0"/>
              <a:t>we recommend </a:t>
            </a:r>
            <a:r>
              <a:rPr lang="en-US" dirty="0"/>
              <a:t>if Zomato should push more for quality control in one area. </a:t>
            </a:r>
            <a:endParaRPr lang="en-US" dirty="0" smtClean="0"/>
          </a:p>
          <a:p>
            <a:pPr marL="0" indent="0">
              <a:buNone/>
            </a:pPr>
            <a:r>
              <a:rPr lang="en-US" b="1" dirty="0">
                <a:latin typeface="Arial Black" panose="020B0A04020102020204" pitchFamily="34" charset="0"/>
              </a:rPr>
              <a:t>Recommendation 2 (Market): </a:t>
            </a:r>
            <a:endParaRPr lang="en-US" b="1" dirty="0" smtClean="0">
              <a:latin typeface="Arial Black" panose="020B0A04020102020204" pitchFamily="34" charset="0"/>
            </a:endParaRPr>
          </a:p>
          <a:p>
            <a:pPr marL="0" indent="0">
              <a:buNone/>
            </a:pPr>
            <a:r>
              <a:rPr lang="en-US" dirty="0" smtClean="0"/>
              <a:t>Based </a:t>
            </a:r>
            <a:r>
              <a:rPr lang="en-US" dirty="0"/>
              <a:t>on the most prevalent type (Dining) and most voted type, advise on which restaurant segment Zomato should focus its marketing efforts.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404935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GITHUB LINK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smtClean="0">
                <a:hlinkClick r:id="rId2"/>
              </a:rPr>
              <a:t>http://github.com/AkshayaAshok28/PYTHON-Project-1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8104953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larity">
  <a:themeElements>
    <a:clrScheme name="Clarity">
      <a:dk1>
        <a:srgbClr val="292934"/>
      </a:dk1>
      <a:lt1>
        <a:srgbClr val="FFFFFF"/>
      </a:lt1>
      <a:dk2>
        <a:srgbClr val="D2533C"/>
      </a:dk2>
      <a:lt2>
        <a:srgbClr val="F3F2DC"/>
      </a:lt2>
      <a:accent1>
        <a:srgbClr val="93A299"/>
      </a:accent1>
      <a:accent2>
        <a:srgbClr val="AD8F67"/>
      </a:accent2>
      <a:accent3>
        <a:srgbClr val="726056"/>
      </a:accent3>
      <a:accent4>
        <a:srgbClr val="4C5A6A"/>
      </a:accent4>
      <a:accent5>
        <a:srgbClr val="808DA0"/>
      </a:accent5>
      <a:accent6>
        <a:srgbClr val="79463D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la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5000"/>
                <a:satMod val="180000"/>
              </a:schemeClr>
            </a:gs>
            <a:gs pos="40000">
              <a:schemeClr val="phClr">
                <a:tint val="95000"/>
                <a:shade val="85000"/>
                <a:satMod val="150000"/>
              </a:schemeClr>
            </a:gs>
            <a:gs pos="100000">
              <a:schemeClr val="phClr">
                <a:shade val="45000"/>
                <a:satMod val="20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55000"/>
              </a:schemeClr>
              <a:schemeClr val="phClr">
                <a:tint val="97000"/>
                <a:satMod val="95000"/>
              </a:schemeClr>
            </a:duotone>
          </a:blip>
          <a:tile tx="0" ty="0" sx="70000" sy="7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Clarity</Template>
  <TotalTime>102</TotalTime>
  <Words>392</Words>
  <Application>Microsoft Office PowerPoint</Application>
  <PresentationFormat>On-screen Show (4:3)</PresentationFormat>
  <Paragraphs>30</Paragraphs>
  <Slides>8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Clarity</vt:lpstr>
      <vt:lpstr>Zomato Restaurant Data Analysis</vt:lpstr>
      <vt:lpstr>OBJECTIVE</vt:lpstr>
      <vt:lpstr>CORE FINDINGS</vt:lpstr>
      <vt:lpstr>PowerPoint Presentation</vt:lpstr>
      <vt:lpstr>PowerPoint Presentation</vt:lpstr>
      <vt:lpstr>PowerPoint Presentation</vt:lpstr>
      <vt:lpstr>CONCLUSION AND RECOMMENDATIONS </vt:lpstr>
      <vt:lpstr>GITHUB LINK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Zomato Restaurant Data Analysis</dc:title>
  <dc:creator>User</dc:creator>
  <cp:lastModifiedBy>User</cp:lastModifiedBy>
  <cp:revision>9</cp:revision>
  <dcterms:created xsi:type="dcterms:W3CDTF">2025-11-04T09:57:40Z</dcterms:created>
  <dcterms:modified xsi:type="dcterms:W3CDTF">2025-11-05T15:05:50Z</dcterms:modified>
</cp:coreProperties>
</file>