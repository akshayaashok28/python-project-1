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975" autoAdjust="0"/>
  </p:normalViewPr>
  <p:slideViewPr>
    <p:cSldViewPr>
      <p:cViewPr varScale="1">
        <p:scale>
          <a:sx n="71" d="100"/>
          <a:sy n="71" d="100"/>
        </p:scale>
        <p:origin x="-135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8DAB2-BC44-4675-8458-68A3AA56F41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8D756-7410-4C4F-8A46-7B21E9AA6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341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E8D756-7410-4C4F-8A46-7B21E9AA62E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826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0654-A7AB-4E25-A94C-8F2ED5C3DD7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7237-DE08-44DB-96CB-3808444FB316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0654-A7AB-4E25-A94C-8F2ED5C3DD7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7237-DE08-44DB-96CB-3808444FB31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0654-A7AB-4E25-A94C-8F2ED5C3DD7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7237-DE08-44DB-96CB-3808444FB316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0654-A7AB-4E25-A94C-8F2ED5C3DD7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7237-DE08-44DB-96CB-3808444FB31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0654-A7AB-4E25-A94C-8F2ED5C3DD7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7237-DE08-44DB-96CB-3808444FB316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0654-A7AB-4E25-A94C-8F2ED5C3DD7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7237-DE08-44DB-96CB-3808444FB31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0654-A7AB-4E25-A94C-8F2ED5C3DD7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7237-DE08-44DB-96CB-3808444FB31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0654-A7AB-4E25-A94C-8F2ED5C3DD7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7237-DE08-44DB-96CB-3808444FB31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0654-A7AB-4E25-A94C-8F2ED5C3DD7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7237-DE08-44DB-96CB-3808444FB31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0654-A7AB-4E25-A94C-8F2ED5C3DD7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7237-DE08-44DB-96CB-3808444FB31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0654-A7AB-4E25-A94C-8F2ED5C3DD7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C7237-DE08-44DB-96CB-3808444FB31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3A3F0654-A7AB-4E25-A94C-8F2ED5C3DD73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ACDC7237-DE08-44DB-96CB-3808444FB31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Zomato Restaurant Data Analysis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Analyzing Restaurant Characteristics and Customer Engagement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98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OBJECTIVE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To analyze the key factors influencing restaurant popularity and operational choices on the Zomato </a:t>
            </a:r>
            <a:r>
              <a:rPr lang="en-US" sz="2800" dirty="0" smtClean="0"/>
              <a:t>platform</a:t>
            </a:r>
          </a:p>
          <a:p>
            <a:r>
              <a:rPr lang="it-IT" sz="2800" b="1" dirty="0"/>
              <a:t>Data Source:</a:t>
            </a:r>
            <a:r>
              <a:rPr lang="it-IT" sz="2800" dirty="0"/>
              <a:t> </a:t>
            </a:r>
            <a:r>
              <a:rPr lang="it-IT" sz="2800" dirty="0" smtClean="0"/>
              <a:t>Zomato </a:t>
            </a:r>
            <a:r>
              <a:rPr lang="it-IT" sz="2800" dirty="0"/>
              <a:t>data .</a:t>
            </a:r>
            <a:r>
              <a:rPr lang="it-IT" sz="2800" dirty="0" smtClean="0"/>
              <a:t>csv</a:t>
            </a:r>
          </a:p>
          <a:p>
            <a:pPr marL="0" indent="0">
              <a:buNone/>
            </a:pPr>
            <a:r>
              <a:rPr lang="it-IT" sz="2800" dirty="0" smtClean="0"/>
              <a:t>Zomato data consists of </a:t>
            </a:r>
            <a:r>
              <a:rPr lang="en-US" sz="2800" dirty="0" smtClean="0"/>
              <a:t>148 rows and 7 columns.</a:t>
            </a:r>
          </a:p>
          <a:p>
            <a:r>
              <a:rPr lang="en-US" sz="2800" dirty="0" smtClean="0"/>
              <a:t> </a:t>
            </a:r>
            <a:r>
              <a:rPr lang="en-US" sz="2800" b="1" dirty="0"/>
              <a:t>Key Variables:</a:t>
            </a:r>
            <a:r>
              <a:rPr lang="en-US" sz="2800" dirty="0"/>
              <a:t> </a:t>
            </a:r>
            <a:r>
              <a:rPr lang="en-US" sz="2800" dirty="0"/>
              <a:t>Briefly list the columns you focused on: </a:t>
            </a:r>
            <a:r>
              <a:rPr lang="en-US" sz="2800" dirty="0"/>
              <a:t>Rate</a:t>
            </a:r>
            <a:r>
              <a:rPr lang="en-US" sz="2800" dirty="0"/>
              <a:t>, </a:t>
            </a:r>
            <a:r>
              <a:rPr lang="en-US" sz="2800" dirty="0"/>
              <a:t>Votes</a:t>
            </a:r>
            <a:r>
              <a:rPr lang="en-US" sz="2800" dirty="0"/>
              <a:t>, </a:t>
            </a:r>
            <a:r>
              <a:rPr lang="en-US" sz="2800" dirty="0"/>
              <a:t>Online_order</a:t>
            </a:r>
            <a:r>
              <a:rPr lang="en-US" sz="2800" dirty="0"/>
              <a:t>, </a:t>
            </a:r>
            <a:r>
              <a:rPr lang="en-US" sz="2800" dirty="0"/>
              <a:t>Book_table</a:t>
            </a:r>
            <a:r>
              <a:rPr lang="en-US" sz="2800" dirty="0"/>
              <a:t>, and </a:t>
            </a:r>
            <a:r>
              <a:rPr lang="en-US" sz="2800" dirty="0"/>
              <a:t>Listed_in(type</a:t>
            </a:r>
            <a:r>
              <a:rPr lang="en-US" sz="2800" dirty="0"/>
              <a:t>).</a:t>
            </a:r>
            <a:endParaRPr lang="it-IT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389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CORE FINDINGS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Finding 1: </a:t>
            </a:r>
            <a:r>
              <a:rPr lang="en-US" b="1" dirty="0"/>
              <a:t>Distribution of Restaurant </a:t>
            </a:r>
            <a:r>
              <a:rPr lang="en-US" b="1" dirty="0" smtClean="0"/>
              <a:t>Types.</a:t>
            </a:r>
          </a:p>
          <a:p>
            <a:r>
              <a:rPr lang="en-US" b="1" dirty="0"/>
              <a:t>Visualization:</a:t>
            </a:r>
            <a:r>
              <a:rPr lang="en-US" dirty="0"/>
              <a:t> </a:t>
            </a:r>
            <a:r>
              <a:rPr lang="en-US" dirty="0" smtClean="0"/>
              <a:t>Used </a:t>
            </a:r>
            <a:r>
              <a:rPr lang="en-US" dirty="0"/>
              <a:t>the </a:t>
            </a:r>
            <a:r>
              <a:rPr lang="en-US" b="1" dirty="0"/>
              <a:t>Count Plot for '</a:t>
            </a:r>
            <a:r>
              <a:rPr lang="en-US" b="1" dirty="0" err="1"/>
              <a:t>listed_in</a:t>
            </a:r>
            <a:r>
              <a:rPr lang="en-US" b="1" dirty="0"/>
              <a:t>(type)'</a:t>
            </a:r>
            <a:r>
              <a:rPr lang="en-US" dirty="0"/>
              <a:t> (Analysis 1). </a:t>
            </a:r>
            <a:endParaRPr lang="en-US" dirty="0" smtClean="0"/>
          </a:p>
          <a:p>
            <a:r>
              <a:rPr lang="en-US" b="1" dirty="0" smtClean="0"/>
              <a:t>Insight</a:t>
            </a:r>
            <a:r>
              <a:rPr lang="en-US" b="1" dirty="0"/>
              <a:t>:</a:t>
            </a:r>
            <a:r>
              <a:rPr lang="en-US" dirty="0"/>
              <a:t> State which type of restaurant is </a:t>
            </a:r>
            <a:r>
              <a:rPr lang="en-US" b="1" dirty="0"/>
              <a:t>most prevalent</a:t>
            </a:r>
            <a:r>
              <a:rPr lang="en-US" dirty="0"/>
              <a:t> (e.g., Dining/Cafes</a:t>
            </a:r>
            <a:r>
              <a:rPr lang="en-US" dirty="0" smtClean="0"/>
              <a:t>), found that</a:t>
            </a:r>
            <a:r>
              <a:rPr lang="en-US" i="1" dirty="0" smtClean="0"/>
              <a:t> </a:t>
            </a:r>
            <a:r>
              <a:rPr lang="en-US" i="1" dirty="0"/>
              <a:t>"</a:t>
            </a:r>
            <a:r>
              <a:rPr lang="en-US" dirty="0"/>
              <a:t>The Zomato platform is heavily dominated by Dining establishments, followed by Cafes</a:t>
            </a:r>
            <a:r>
              <a:rPr lang="en-US" dirty="0"/>
              <a:t>.“</a:t>
            </a:r>
          </a:p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1" t="29762" r="41658" b="17659"/>
          <a:stretch/>
        </p:blipFill>
        <p:spPr bwMode="auto">
          <a:xfrm>
            <a:off x="2287069" y="4149080"/>
            <a:ext cx="4608512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4547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idx="1"/>
          </p:nvPr>
        </p:nvSpPr>
        <p:spPr>
          <a:xfrm>
            <a:off x="457200" y="549275"/>
            <a:ext cx="8229600" cy="5927725"/>
          </a:xfrm>
        </p:spPr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Finding 2: </a:t>
            </a:r>
            <a:r>
              <a:rPr lang="en-US" b="1" dirty="0"/>
              <a:t>Popularity and Service </a:t>
            </a:r>
            <a:r>
              <a:rPr lang="en-US" b="1" dirty="0" smtClean="0"/>
              <a:t>Channels.</a:t>
            </a:r>
          </a:p>
          <a:p>
            <a:r>
              <a:rPr lang="en-US" b="1" dirty="0">
                <a:latin typeface="Arial Black" panose="020B0A04020102020204" pitchFamily="34" charset="0"/>
              </a:rPr>
              <a:t>Visualization: </a:t>
            </a:r>
            <a:r>
              <a:rPr lang="en-US" dirty="0" smtClean="0"/>
              <a:t>Used </a:t>
            </a:r>
            <a:r>
              <a:rPr lang="en-US" dirty="0"/>
              <a:t>the </a:t>
            </a:r>
            <a:r>
              <a:rPr lang="en-US" b="1" dirty="0"/>
              <a:t>Bar Plot for 'Total Votes per Restaurant Type'</a:t>
            </a:r>
            <a:r>
              <a:rPr lang="en-US" dirty="0"/>
              <a:t> (Analysis 2). </a:t>
            </a:r>
            <a:endParaRPr lang="en-US" dirty="0" smtClean="0"/>
          </a:p>
          <a:p>
            <a:r>
              <a:rPr lang="en-US" b="1" dirty="0">
                <a:latin typeface="Arial Black" panose="020B0A04020102020204" pitchFamily="34" charset="0"/>
              </a:rPr>
              <a:t>Insight</a:t>
            </a:r>
            <a:r>
              <a:rPr lang="en-US" b="1" dirty="0">
                <a:latin typeface="Arial Black" panose="020B0A04020102020204" pitchFamily="34" charset="0"/>
              </a:rPr>
              <a:t>: </a:t>
            </a:r>
            <a:r>
              <a:rPr lang="en-US" dirty="0"/>
              <a:t>State which restaurant type receives the </a:t>
            </a:r>
            <a:r>
              <a:rPr lang="en-US" b="1" dirty="0"/>
              <a:t>most total votes</a:t>
            </a:r>
            <a:r>
              <a:rPr lang="en-US" dirty="0"/>
              <a:t> (highest public engagement</a:t>
            </a:r>
            <a:r>
              <a:rPr lang="en-US" dirty="0" smtClean="0"/>
              <a:t>). Found that </a:t>
            </a:r>
            <a:r>
              <a:rPr lang="en-US" dirty="0"/>
              <a:t>"[</a:t>
            </a:r>
            <a:r>
              <a:rPr lang="en-US" dirty="0"/>
              <a:t>Highest Voted Type, e.g., Dining] receives the overwhelming majority of customer votes, indicating where public opinion and high traffic are concentrated."</a:t>
            </a:r>
            <a:endParaRPr lang="en-US" dirty="0"/>
          </a:p>
          <a:p>
            <a:endParaRPr lang="en-IN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0" t="31534" r="40523" b="18466"/>
          <a:stretch/>
        </p:blipFill>
        <p:spPr bwMode="auto">
          <a:xfrm>
            <a:off x="2267744" y="4149080"/>
            <a:ext cx="4968552" cy="270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7615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457200" y="620713"/>
            <a:ext cx="8229600" cy="5856287"/>
          </a:xfrm>
        </p:spPr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Finding 3: </a:t>
            </a:r>
            <a:r>
              <a:rPr lang="en-US" b="1" dirty="0"/>
              <a:t>Adoption of Online </a:t>
            </a:r>
            <a:r>
              <a:rPr lang="en-US" b="1" dirty="0" smtClean="0"/>
              <a:t>Services</a:t>
            </a:r>
          </a:p>
          <a:p>
            <a:r>
              <a:rPr lang="en-US" b="1" dirty="0">
                <a:latin typeface="Arial Black" panose="020B0A04020102020204" pitchFamily="34" charset="0"/>
              </a:rPr>
              <a:t>Visualization: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dirty="0" smtClean="0"/>
              <a:t>Used </a:t>
            </a:r>
            <a:r>
              <a:rPr lang="en-US" b="1" dirty="0" smtClean="0"/>
              <a:t>Pivot </a:t>
            </a:r>
            <a:r>
              <a:rPr lang="en-US" b="1" dirty="0"/>
              <a:t>Table Plot for '</a:t>
            </a:r>
            <a:r>
              <a:rPr lang="en-US" b="1" dirty="0" err="1"/>
              <a:t>book_table</a:t>
            </a:r>
            <a:r>
              <a:rPr lang="en-US" b="1" dirty="0"/>
              <a:t> vs. online_order'</a:t>
            </a:r>
            <a:r>
              <a:rPr lang="en-US" dirty="0"/>
              <a:t> (Analysis 4</a:t>
            </a:r>
            <a:r>
              <a:rPr lang="en-US" dirty="0" smtClean="0"/>
              <a:t>).</a:t>
            </a:r>
          </a:p>
          <a:p>
            <a:r>
              <a:rPr lang="en-US" dirty="0" smtClean="0"/>
              <a:t> </a:t>
            </a:r>
            <a:r>
              <a:rPr lang="en-US" b="1" dirty="0">
                <a:latin typeface="Arial Black" panose="020B0A04020102020204" pitchFamily="34" charset="0"/>
              </a:rPr>
              <a:t>Insight: </a:t>
            </a:r>
            <a:r>
              <a:rPr lang="en-US" dirty="0" smtClean="0"/>
              <a:t>Discussed </a:t>
            </a:r>
            <a:r>
              <a:rPr lang="en-US" dirty="0"/>
              <a:t>the proportion of restaurants that offer </a:t>
            </a:r>
            <a:r>
              <a:rPr lang="en-US" b="1" dirty="0"/>
              <a:t>online ordering</a:t>
            </a:r>
            <a:r>
              <a:rPr lang="en-US" dirty="0"/>
              <a:t>. </a:t>
            </a:r>
            <a:r>
              <a:rPr lang="en-US" dirty="0" smtClean="0"/>
              <a:t>Highlighted </a:t>
            </a:r>
            <a:r>
              <a:rPr lang="en-US" dirty="0"/>
              <a:t>the </a:t>
            </a:r>
            <a:r>
              <a:rPr lang="en-US" b="1" dirty="0"/>
              <a:t>relationship between online order and table </a:t>
            </a:r>
            <a:r>
              <a:rPr lang="en-US" b="1" dirty="0" smtClean="0"/>
              <a:t>booking.</a:t>
            </a:r>
          </a:p>
          <a:p>
            <a:endParaRPr lang="en-IN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" t="45635" r="74009" b="30114"/>
          <a:stretch/>
        </p:blipFill>
        <p:spPr bwMode="auto">
          <a:xfrm>
            <a:off x="2483768" y="3356992"/>
            <a:ext cx="4248472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8771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928320"/>
          </a:xfrm>
        </p:spPr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Finding 4: </a:t>
            </a:r>
            <a:r>
              <a:rPr lang="en-US" b="1" dirty="0"/>
              <a:t>The Impact of Service Channel on </a:t>
            </a:r>
            <a:r>
              <a:rPr lang="en-US" b="1" dirty="0" smtClean="0"/>
              <a:t>Rating</a:t>
            </a:r>
          </a:p>
          <a:p>
            <a:r>
              <a:rPr lang="en-US" b="1" dirty="0">
                <a:latin typeface="Arial Black" panose="020B0A04020102020204" pitchFamily="34" charset="0"/>
              </a:rPr>
              <a:t>Visualization: </a:t>
            </a:r>
            <a:r>
              <a:rPr lang="en-US" dirty="0"/>
              <a:t>Use the </a:t>
            </a:r>
            <a:r>
              <a:rPr lang="en-US" b="1" dirty="0"/>
              <a:t>Box Plot for 'Ratings for online vs offline orders'</a:t>
            </a:r>
            <a:r>
              <a:rPr lang="en-US" dirty="0"/>
              <a:t> (Analysis 5). </a:t>
            </a:r>
            <a:endParaRPr lang="en-US" dirty="0" smtClean="0"/>
          </a:p>
          <a:p>
            <a:r>
              <a:rPr lang="en-US" b="1" dirty="0">
                <a:latin typeface="Arial Black" panose="020B0A04020102020204" pitchFamily="34" charset="0"/>
              </a:rPr>
              <a:t>Insight</a:t>
            </a:r>
            <a:r>
              <a:rPr lang="en-US" b="1" dirty="0">
                <a:latin typeface="Arial Black" panose="020B0A04020102020204" pitchFamily="34" charset="0"/>
              </a:rPr>
              <a:t>: </a:t>
            </a:r>
            <a:r>
              <a:rPr lang="en-US" dirty="0" smtClean="0"/>
              <a:t>By Comparing </a:t>
            </a:r>
            <a:r>
              <a:rPr lang="en-US" dirty="0"/>
              <a:t>the </a:t>
            </a:r>
            <a:r>
              <a:rPr lang="en-US" b="1" dirty="0"/>
              <a:t>average rating (mean/median)</a:t>
            </a:r>
            <a:r>
              <a:rPr lang="en-US" dirty="0"/>
              <a:t> between restaurants that accept online orders and those that don't. </a:t>
            </a:r>
            <a:r>
              <a:rPr lang="en-US" dirty="0"/>
              <a:t>Example: "Restaurants offering online orders have a slightly higher (or lower) average </a:t>
            </a:r>
            <a:r>
              <a:rPr lang="en-US" dirty="0"/>
              <a:t>rating than those of offline </a:t>
            </a:r>
            <a:r>
              <a:rPr lang="en-US" dirty="0" smtClean="0"/>
              <a:t>orders.</a:t>
            </a:r>
            <a:endParaRPr lang="en-IN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22" b="26689"/>
          <a:stretch/>
        </p:blipFill>
        <p:spPr bwMode="auto">
          <a:xfrm>
            <a:off x="2411760" y="3717032"/>
            <a:ext cx="4665123" cy="3140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2759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548680"/>
            <a:ext cx="8820472" cy="990600"/>
          </a:xfrm>
        </p:spPr>
        <p:txBody>
          <a:bodyPr>
            <a:noAutofit/>
          </a:bodyPr>
          <a:lstStyle/>
          <a:p>
            <a:pPr algn="ctr"/>
            <a:r>
              <a:rPr lang="en-IN" sz="3400" b="1" dirty="0" smtClean="0"/>
              <a:t>CONCLUSION AND RECOMMENDATIONS </a:t>
            </a:r>
            <a:endParaRPr lang="en-IN" sz="3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Arial Black" panose="020B0A04020102020204" pitchFamily="34" charset="0"/>
              </a:rPr>
              <a:t>Conclusion:</a:t>
            </a:r>
          </a:p>
          <a:p>
            <a:pPr marL="0" indent="0">
              <a:buNone/>
            </a:pPr>
            <a:r>
              <a:rPr lang="en-US" dirty="0" smtClean="0"/>
              <a:t>Dining </a:t>
            </a:r>
            <a:r>
              <a:rPr lang="en-US" dirty="0"/>
              <a:t>type is the core business, but service quality depends on online order </a:t>
            </a:r>
            <a:r>
              <a:rPr lang="en-US" dirty="0" smtClean="0"/>
              <a:t>availability.</a:t>
            </a:r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Recommendation 1 (Operational): 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dirty="0" smtClean="0"/>
              <a:t>Based </a:t>
            </a:r>
            <a:r>
              <a:rPr lang="en-US" dirty="0"/>
              <a:t>on the online/offline rating, </a:t>
            </a:r>
            <a:r>
              <a:rPr lang="en-US" dirty="0" smtClean="0"/>
              <a:t>we recommend </a:t>
            </a:r>
            <a:r>
              <a:rPr lang="en-US" dirty="0"/>
              <a:t>if Zomato should push more for quality control in one area. </a:t>
            </a:r>
            <a:endParaRPr lang="en-US" dirty="0" smtClean="0"/>
          </a:p>
          <a:p>
            <a:pPr marL="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Recommendation </a:t>
            </a:r>
            <a:r>
              <a:rPr lang="en-US" b="1" dirty="0">
                <a:latin typeface="Arial Black" panose="020B0A04020102020204" pitchFamily="34" charset="0"/>
              </a:rPr>
              <a:t>2 (Market): 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dirty="0" smtClean="0"/>
              <a:t>Based </a:t>
            </a:r>
            <a:r>
              <a:rPr lang="en-US" dirty="0"/>
              <a:t>on the most prevalent type (Dining) and most voted type, advise on which restaurant segment Zomato should focus its marketing efforts.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0493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GITHUB LINK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0495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47</TotalTime>
  <Words>389</Words>
  <Application>Microsoft Office PowerPoint</Application>
  <PresentationFormat>On-screen Show (4:3)</PresentationFormat>
  <Paragraphs>29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Clarity</vt:lpstr>
      <vt:lpstr>Zomato Restaurant Data Analysis</vt:lpstr>
      <vt:lpstr>OBJECTIVE</vt:lpstr>
      <vt:lpstr>CORE FINDINGS</vt:lpstr>
      <vt:lpstr>PowerPoint Presentation</vt:lpstr>
      <vt:lpstr>PowerPoint Presentation</vt:lpstr>
      <vt:lpstr>PowerPoint Presentation</vt:lpstr>
      <vt:lpstr>CONCLUSION AND RECOMMENDATIONS </vt:lpstr>
      <vt:lpstr>GITHUB LINK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Restaurant Data Analysis</dc:title>
  <dc:creator>User</dc:creator>
  <cp:lastModifiedBy>User</cp:lastModifiedBy>
  <cp:revision>5</cp:revision>
  <dcterms:created xsi:type="dcterms:W3CDTF">2025-11-04T09:57:40Z</dcterms:created>
  <dcterms:modified xsi:type="dcterms:W3CDTF">2025-11-04T10:44:52Z</dcterms:modified>
</cp:coreProperties>
</file>